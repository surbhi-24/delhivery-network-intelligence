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49"/>
    <p:restoredTop sz="94610"/>
  </p:normalViewPr>
  <p:slideViewPr>
    <p:cSldViewPr snapToGrid="0" snapToObjects="1">
      <p:cViewPr>
        <p:scale>
          <a:sx n="71" d="100"/>
          <a:sy n="71" d="100"/>
        </p:scale>
        <p:origin x="64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8FAFC"/>
                </a:solidFill>
                <a:latin typeface="Arial"/>
              </a:rPr>
              <a:t>Median Delay: FTL vs Carting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Delay Ratio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CB-DA4C-8B57-97DF6397172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CB-DA4C-8B57-97DF639717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FTL</c:v>
                </c:pt>
                <c:pt idx="1">
                  <c:v>Carting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1.71</c:v>
                </c:pt>
                <c:pt idx="1">
                  <c:v>1.89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CB-DA4C-8B57-97DF63971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Recovered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18-1340-A3AC-A9F11979E0CF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18-1340-A3AC-A9F11979E0CF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18-1340-A3AC-A9F11979E0CF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18-1340-A3AC-A9F11979E0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Hub Upgrades</c:v>
                </c:pt>
                <c:pt idx="1">
                  <c:v>FTL Conversion</c:v>
                </c:pt>
                <c:pt idx="2">
                  <c:v>Dispatch Optimization</c:v>
                </c:pt>
                <c:pt idx="3">
                  <c:v>Total (Annual)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18-1340-A3AC-A9F11979E0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40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" y="5494630"/>
            <a:ext cx="12161520" cy="133593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Delivery ETAs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Graph-Based Network Intelligence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Delhivery  ·  Machine Learning Consulting Project  · 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920240" cy="347472"/>
          </a:xfrm>
          <a:prstGeom prst="round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XGBoost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3429000"/>
            <a:ext cx="1920240" cy="347472"/>
          </a:xfrm>
          <a:prstGeom prst="round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Graph 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1920240" cy="347472"/>
          </a:xfrm>
          <a:prstGeom prst="round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Betweenness Centrality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3429000"/>
            <a:ext cx="1920240" cy="347472"/>
          </a:xfrm>
          <a:prstGeom prst="round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FTL vs Carting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25603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25.8%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5042916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Graph MAE Improvement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4389120"/>
            <a:ext cx="25603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4498848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86.5%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46120" y="5042916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Network SLA Breach 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4389120"/>
            <a:ext cx="25603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5 Hubs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5042916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Cause ~40% Delay Cascade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3960" y="4389120"/>
            <a:ext cx="25603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23960" y="4498848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1,356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823960" y="5042916"/>
            <a:ext cx="2560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Facilities in Network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Surbhi Kumari  |  IIT Guwahati  | 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Why OSRM Alone Fails Delhivery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8013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OSRM Assumes Clean Roads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1488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Real-world: congestion, facility dwell time, seasonal volume spikes. OSRM ignores all of these, producing systematically optimistic ETAs.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8013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 Network Awareness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3952" y="21488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OSRM treats each route independently. But logistics is a network — one delayed hub cascades to 10+ downstream corridors.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4864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4930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SLA Breaches → Revenue Loss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8404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Our data shows 86.5% of trips exceed OSRM predictions. Each missed SLA = a broken customer promise and potential churn.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4864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34930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FTL/Carting Blind Spots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38404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Route-type selection is made without knowing a facility's structural risk position in the network graph.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OUR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Graph-Based Network Intelligence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210312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Parse 144K trip records. Use segment_factor (actual/OSRM) as target — dimensionless, comparable across corridors. Winsorize at 99th pct.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3182112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1691640"/>
            <a:ext cx="210312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Graph Construction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Model 1,356 facilities as nodes, 1,717 corridors as edges. Edge weight = median delay ratio (robust vs mean).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182112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37760" y="1691640"/>
            <a:ext cx="210312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Centrality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Compute betweenness, PageRank, in/out-degree, clustering coefficient for each hub. These become ML features.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0880" y="3182112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0" y="1691640"/>
            <a:ext cx="210312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Baseline vs Graph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XGBoost trained with &amp; without graph features. Rigorous benchmarking on MAE and 15%-accuracy metric.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26880" y="3182112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09760" y="1691640"/>
            <a:ext cx="2103120" cy="297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46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469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FTL vs Carting Framework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ML-backed decision framework: which corridors to convert, prioritised by delay × SLA breach × network centrality.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DATA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What the Data Reveals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5760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160020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9E0B"/>
                </a:solidFill>
              </a:rPr>
              <a:t>86.5%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60920" y="1691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SLA Breach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219456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86.5% of all trips exceed OSRM predicted time — systemic, not random.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3136392"/>
            <a:ext cx="5760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3136392"/>
            <a:ext cx="6400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32278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F4444"/>
                </a:solidFill>
              </a:rPr>
              <a:t>37.7%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360920" y="32278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Severe Delay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37307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Delay ratio &gt; 2× (twice OSRM estimate) on 37.7% of trips.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4672584"/>
            <a:ext cx="5760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4672584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76402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9488"/>
                </a:solidFill>
              </a:rPr>
              <a:t>10.4%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360920" y="47640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FTL Delay Advantage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0" y="526694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FTL median delay 1.71× vs Carting 1.89× — 10.4% lower on identical corridors.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MODEL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Graph Advantage: Proven &amp; Quantified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562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A3B8"/>
                </a:solidFill>
              </a:rPr>
              <a:t>0.6933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Baseline MAE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18562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0.5143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Graph-Enhanced MAE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38160" y="18562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25.8%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MAE Improvement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A3B8"/>
                </a:solidFill>
              </a:rPr>
              <a:t>31.4%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Baseline 15%-Accuracy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347472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363931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46.4%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29768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Graph 15%-Accuracy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3474720"/>
            <a:ext cx="35661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38160" y="363931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</a:rPr>
              <a:t>&gt; 15% MAE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3816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Target Threshold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✅  Graph advantage confirmed: 25.8% MAE improvement — target was 15%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BOTTLENECK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Top 5 Structural Chokepoints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11247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572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#1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Gurgaon_Bilaspur_HB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084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State: Haryana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Centrality: 0.0869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084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SLA Breach: 85.8%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23760" y="17556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▶  Parallel lane addition + FTL priority allocation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11247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4572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#2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Bangalore_Nelmngla_H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53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State: Karnataka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Centrality: 0.0320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53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SLA Breach: 87.9%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262432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▶  Route diversification — add 2 alternate corridors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11247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401568"/>
            <a:ext cx="457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#3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Kolkata_Dankuni_HB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State: West Bengal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Centrality: 0.0282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SLA Breach: 96.2%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3493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▶  Facility dwell time audit — upgrade within 60 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70248"/>
            <a:ext cx="11247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270248"/>
            <a:ext cx="457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27024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#4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4343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Hyderabad_Shamshbd_H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690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State: Telangana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343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Centrality: 0.0273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690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SLA Breach: 85.7%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43616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▶  Convert high-volume Carting lanes to FTL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138928"/>
            <a:ext cx="11247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5138928"/>
            <a:ext cx="45720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513892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#5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1560" y="5212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Chandigarh_Mehmdpur_H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5559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State: Punjab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5212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Centrality: 0.0197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SLA Breach: 88.6%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52303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▶  Deploy real-time delay alerting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DECISION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ML-Backed FTL vs Carting Decision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Convert to FTL When: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Median Delay &gt; 1.85×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5237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Flag for FTL conversion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486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SLA Breach Rate &gt; 90%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483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Immediate priority intervention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Betweenness Centrality &gt; 0.02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Hub upgrade + alternate route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5486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9834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029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High centrality + Carting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4041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FTL conversion → 10–15% delay reduction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Estimated Revenue Recovery: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217920" y="210312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Estimated ₹15–20 Cr annual revenue recovery from top 5 hub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IMPACT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Business Impact &amp; Execution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260604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73936"/>
            <a:ext cx="26060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43734"/>
            <a:ext cx="26060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SLA Breach Reduction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3081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Within 90 days of top 5 hub upgrades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1664208"/>
            <a:ext cx="260604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773936"/>
            <a:ext cx="26060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25.8%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443734"/>
            <a:ext cx="26060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MAE Improvement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3081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Graph model vs baseline — proven on test set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664208"/>
            <a:ext cx="260604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773936"/>
            <a:ext cx="26060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₹15–20 Cr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443734"/>
            <a:ext cx="26060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Annual Revenue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3081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Recovered from SLA breach reduction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61120" y="1664208"/>
            <a:ext cx="260604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0" y="1773936"/>
            <a:ext cx="26060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10.4%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443734"/>
            <a:ext cx="26060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Delay Reduction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3081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FTL conversion on high-risk Carting corridors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90-Day Execution 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26517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2651760" cy="3200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Week 1–2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52628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Deploy real-time delay scoring on top 5 bottleneck hubs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486460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4160520"/>
            <a:ext cx="26517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4160520"/>
            <a:ext cx="2651760" cy="3200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Week 3–4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452628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Pilot FTL conversion on highest-priority Carting corridors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486460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26517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4160520"/>
            <a:ext cx="2651760" cy="3200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Month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452628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Facility capacity audit &amp; upgrade at Gurgaon and Kolkata hubs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78240" y="4864608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961120" y="4160520"/>
            <a:ext cx="26517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61120" y="4160520"/>
            <a:ext cx="2651760" cy="3200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6112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Month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70848" y="452628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Full operations dashboard rollout; monitor KPIs vs baseline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734</Words>
  <Application>Microsoft Macintosh PowerPoint</Application>
  <PresentationFormat>Widescreen</PresentationFormat>
  <Paragraphs>150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Delhivery Network Intelligence</dc:title>
  <dc:subject>PptxGenJS Presentation</dc:subject>
  <dc:creator>Your Name</dc:creator>
  <cp:lastModifiedBy>SURBHI KUMARI</cp:lastModifiedBy>
  <cp:revision>3</cp:revision>
  <dcterms:created xsi:type="dcterms:W3CDTF">2026-05-25T11:53:08Z</dcterms:created>
  <dcterms:modified xsi:type="dcterms:W3CDTF">2026-05-25T16:36:15Z</dcterms:modified>
</cp:coreProperties>
</file>